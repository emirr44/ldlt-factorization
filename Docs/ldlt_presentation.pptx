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6" r:id="rId17"/>
  </p:sldIdLst>
  <p:sldSz cx="18288000" cy="10287000"/>
  <p:notesSz cx="6858000" cy="9144000"/>
  <p:embeddedFontLst>
    <p:embeddedFont>
      <p:font typeface="Bricolage Grotesque" panose="020B0604020202020204" charset="0"/>
      <p:regular r:id="rId19"/>
      <p:bold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Questrial" pitchFamily="2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399" y="5900000"/>
            <a:ext cx="16243112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Sparse LDL</a:t>
            </a:r>
            <a:r>
              <a:rPr lang="en-US" sz="7000" b="0" i="0" u="none" strike="noStrike" cap="none" baseline="30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</a:t>
            </a:r>
            <a:r>
              <a:rPr lang="en-US" sz="7000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Factorization</a:t>
            </a:r>
            <a:endParaRPr sz="7000"/>
          </a:p>
        </p:txBody>
      </p:sp>
      <p:sp>
        <p:nvSpPr>
          <p:cNvPr id="3" name="TextBox 3"/>
          <p:cNvSpPr txBox="1"/>
          <p:nvPr/>
        </p:nvSpPr>
        <p:spPr>
          <a:xfrm>
            <a:off x="556399" y="8617655"/>
            <a:ext cx="16243112" cy="88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Emir Baručija,</a:t>
            </a:r>
            <a:endParaRPr sz="2798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Faculty of Electrical Engineering, Sarajevo</a:t>
            </a:r>
            <a:endParaRPr sz="279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LDL</a:t>
            </a:r>
            <a:r>
              <a:rPr lang="en-US" sz="7999" b="1" i="0" u="none" strike="noStrike" cap="none" baseline="30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</a:t>
            </a:r>
            <a:r>
              <a:rPr lang="en-US" sz="7999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LDL</a:t>
            </a:r>
            <a:r>
              <a:rPr lang="en-US" sz="5500" b="1" i="0" u="none" strike="noStrike" cap="none" baseline="30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</a:t>
            </a: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?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= L D L</a:t>
            </a:r>
            <a:r>
              <a:rPr lang="en-US" sz="3100" b="0" i="0" u="none" strike="noStrike" cap="none" baseline="30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 L unit lower triangular, D diagonal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Cholesky without square roots, so D may go negative and indefinite matrices work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Solve: permute, forward solve L, divide by D, backward solve L</a:t>
            </a:r>
            <a:r>
              <a:rPr lang="en-US" sz="3100" b="0" i="0" u="none" strike="noStrike" cap="none" baseline="30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 permute back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Ported from Davis' LDL. The ordering, the pivoting and the validation are mine</a:t>
            </a:r>
            <a:endParaRPr sz="3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From COO to CSC</a:t>
            </a:r>
            <a:endParaRPr/>
          </a:p>
        </p:txBody>
      </p:sp>
      <p:pic>
        <p:nvPicPr>
          <p:cNvPr id="3" name="Picture 3"/>
          <p:cNvPicPr preferRelativeResize="0"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676120" y="2500000"/>
            <a:ext cx="8317620" cy="3900000"/>
          </a:xfrm>
          <a:prstGeom prst="rect">
            <a:avLst/>
          </a:prstGeom>
          <a:ln>
            <a:noFill/>
          </a:ln>
        </p:spPr>
      </p:pic>
      <p:pic>
        <p:nvPicPr>
          <p:cNvPr id="4" name="Picture 4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9793740" y="2500000"/>
            <a:ext cx="7818140" cy="3900000"/>
          </a:xfrm>
          <a:prstGeom prst="rect">
            <a:avLst/>
          </a:prstGeom>
          <a:ln>
            <a:noFill/>
          </a:ln>
        </p:spPr>
      </p:pic>
      <p:sp>
        <p:nvSpPr>
          <p:cNvPr id="5" name="TextBox 5"/>
          <p:cNvSpPr txBox="1"/>
          <p:nvPr/>
        </p:nvSpPr>
        <p:spPr>
          <a:xfrm>
            <a:off x="676120" y="6680000"/>
            <a:ext cx="831762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file is read into a list of (row, column, value) triplets</a:t>
            </a:r>
            <a:endParaRPr sz="2500"/>
          </a:p>
        </p:txBody>
      </p:sp>
      <p:sp>
        <p:nvSpPr>
          <p:cNvPr id="6" name="TextBox 6"/>
          <p:cNvSpPr txBox="1"/>
          <p:nvPr/>
        </p:nvSpPr>
        <p:spPr>
          <a:xfrm>
            <a:off x="9793740" y="6680000"/>
            <a:ext cx="781814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factorization reads CSC: values grouped by column, with a pointer array saying where each column starts</a:t>
            </a:r>
            <a:endParaRPr sz="2500"/>
          </a:p>
        </p:txBody>
      </p:sp>
      <p:sp>
        <p:nvSpPr>
          <p:cNvPr id="8" name="TextBox 8"/>
          <p:cNvSpPr txBox="1"/>
          <p:nvPr/>
        </p:nvSpPr>
        <p:spPr>
          <a:xfrm>
            <a:off x="894000" y="8600000"/>
            <a:ext cx="1650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conversion sorts each column and sums duplicates. Symmetric files store one triangle and are expanded on read.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factorization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Symbolic analysis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pattern of L, computed from the pattern of A before any arithmetic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Elimination tree, built with path compression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Postorder, then column counts by row subtrees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Gives nnz(L) and the flop count before a single value exists, so orderings are cheap to compare</a:t>
            </a:r>
            <a:endParaRPr sz="3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elimination tree</a:t>
            </a:r>
            <a:endParaRPr/>
          </a:p>
        </p:txBody>
      </p:sp>
      <p:pic>
        <p:nvPicPr>
          <p:cNvPr id="3" name="Picture 3"/>
          <p:cNvPicPr preferRelativeResize="0"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3679549" y="2450000"/>
            <a:ext cx="10928901" cy="5500000"/>
          </a:xfrm>
          <a:prstGeom prst="rect">
            <a:avLst/>
          </a:prstGeom>
          <a:ln>
            <a:noFill/>
          </a:ln>
        </p:spPr>
      </p:pic>
      <p:sp>
        <p:nvSpPr>
          <p:cNvPr id="4" name="TextBox 4"/>
          <p:cNvSpPr txBox="1"/>
          <p:nvPr/>
        </p:nvSpPr>
        <p:spPr>
          <a:xfrm>
            <a:off x="894000" y="8350000"/>
            <a:ext cx="1650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3 by 3 grid, middle column eliminated last. The two halves stay independent until that separator, and the tree shows it.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Numeric factorization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Up-looking: one row of L at a time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Row k is a sparse triangular solve against the rows above it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Its pattern comes first, from walking the elimination tree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Reads the upper triangle of P A P</a:t>
            </a:r>
            <a:r>
              <a:rPr lang="en-US" sz="3100" b="0" i="0" u="none" strike="noStrike" cap="none" baseline="30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. With a permutation both triangles must be stored, so the code rejects a one-sided matrix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Does it actually work?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Residual check: solve for a known x, report the forward and backward error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Factor check: form P A P</a:t>
            </a:r>
            <a:r>
              <a:rPr lang="en-US" sz="3100" b="0" i="0" u="none" strike="noStrike" cap="none" baseline="30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- L D L</a:t>
            </a:r>
            <a:r>
              <a:rPr lang="en-US" sz="3100" b="0" i="0" u="none" strike="noStrike" cap="none" baseline="30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 relative Frobenius norm. Small matrices only, but it tests the factor and not just the solve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bcsstk01 with AMD: factor error 1.09e-16, backward error 9.49e-17</a:t>
            </a:r>
            <a:endParaRPr sz="3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Fill-reducing orderings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Orderings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Four implemented: natural, RCM, minimum degree, AMD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RCM reduces bandwidth, not fill. A baseline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Minimum degree: exact, too slow for large n. A reference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AMD: elements instead of cliques, bounded degrees, supervariables. The one to use</a:t>
            </a:r>
            <a:endParaRPr sz="3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the ordering buys</a:t>
            </a:r>
            <a:endParaRPr/>
          </a:p>
        </p:txBody>
      </p:sp>
      <p:pic>
        <p:nvPicPr>
          <p:cNvPr id="3" name="Picture 3"/>
          <p:cNvPicPr preferRelativeResize="0"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3886504" y="2450000"/>
            <a:ext cx="10514991" cy="5500000"/>
          </a:xfrm>
          <a:prstGeom prst="rect">
            <a:avLst/>
          </a:prstGeom>
          <a:ln>
            <a:noFill/>
          </a:ln>
        </p:spPr>
      </p:pic>
      <p:sp>
        <p:nvSpPr>
          <p:cNvPr id="4" name="TextBox 4"/>
          <p:cNvSpPr txBox="1"/>
          <p:nvPr/>
        </p:nvSpPr>
        <p:spPr>
          <a:xfrm>
            <a:off x="894000" y="8350000"/>
            <a:ext cx="1650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bcsstk08 factorized both ways. AMD leaves 8 times fewer nonzeros in L and cuts the flop count by a factor of 40.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Indefinite matrices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Static pivoting and refinement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pivot can sit near zero even when A is well conditioned, and destroy the factor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Bunch-Kaufman needs 2x2 blocks; the up-looking kernel has no place for them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Static pivoting instead: pivots below r times ||A|| are replaced by plus or minus that value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factor is then exact for a slightly perturbed matrix, so refinement against the original A restores the backward error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 = 1e-12. The classic 1e-8 damaged badly scaled positive definite matrices</a:t>
            </a:r>
            <a:endParaRPr sz="3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05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ldlt tool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run</a:t>
            </a:r>
            <a:r>
              <a:rPr lang="hr-BA" sz="5500" b="1" i="0" u="none" strike="noStrike" cap="non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of LDLT CLI</a:t>
            </a:r>
            <a:endParaRPr dirty="0"/>
          </a:p>
        </p:txBody>
      </p:sp>
      <p:sp>
        <p:nvSpPr>
          <p:cNvPr id="3" name="TextBox 3"/>
          <p:cNvSpPr txBox="1"/>
          <p:nvPr/>
        </p:nvSpPr>
        <p:spPr>
          <a:xfrm>
            <a:off x="1500000" y="2400000"/>
            <a:ext cx="15000000" cy="6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ldlt (amd) &gt; bcsstk08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matrix                      bcsstk08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                           1074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nnz(A) stored               12960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ordering                    amd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nnz(L)                      28083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fill nnz(L+D)/nnz(triu A)   4.16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flops (numeric)             1.5081e+06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ordering                    4.09 ms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symbolic                    0.31 ms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numeric                     1.01 ms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solve + refine              0.19 ms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status                      ok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pivots                      1074 positive, 0 negative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min |d| / max |d|           3.977e+03 / 6.045e+10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static pivoting             threshold 8.955e-02, 0 perturbed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backward error              9.589e-16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after refinement          9.589e-17  (1 step, converged)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forward error               1.476e-12</a:t>
            </a:r>
            <a:endParaRPr sz="1500"/>
          </a:p>
        </p:txBody>
      </p:sp>
      <p:sp>
        <p:nvSpPr>
          <p:cNvPr id="4" name="TextBox 4"/>
          <p:cNvSpPr txBox="1"/>
          <p:nvPr/>
        </p:nvSpPr>
        <p:spPr>
          <a:xfrm>
            <a:off x="894000" y="890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bcsstk08 with AMD. One refinement step takes the backward error to 9.6e-17.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PresentationFormat>Custom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Bricolage Grotesque</vt:lpstr>
      <vt:lpstr>Arial</vt:lpstr>
      <vt:lpstr>Questrial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Emir Baručija</cp:lastModifiedBy>
  <cp:revision>1</cp:revision>
  <dcterms:modified xsi:type="dcterms:W3CDTF">2026-09-18T19:47:24Z</dcterms:modified>
</cp:coreProperties>
</file>